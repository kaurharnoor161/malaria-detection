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Images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67E22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Train (72%)</c:v>
                  </c:pt>
                  <c:pt idx="1">
                    <c:v>Validation (8%)</c:v>
                  </c:pt>
                  <c:pt idx="2">
                    <c:v>Test (20%)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19842</c:v>
                </c:pt>
                <c:pt idx="1">
                  <c:v>2205</c:v>
                </c:pt>
                <c:pt idx="2">
                  <c:v>5511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A2342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A2342"/>
                </a:solidFill>
                <a:latin typeface="Arial"/>
              </a:rPr>
              <a:t>Accuracy over Epochs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 Accuracy</c:v>
                </c:pt>
              </c:strCache>
            </c:strRef>
          </c:tx>
          <c:spPr>
            <a:solidFill>
              <a:srgbClr val="02C39A"/>
            </a:solidFill>
            <a:ln w="25400" cap="flat">
              <a:solidFill>
                <a:srgbClr val="02C39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2C39A"/>
              </a:solidFill>
              <a:ln w="9525" cap="flat">
                <a:solidFill>
                  <a:srgbClr val="02C39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Sheet1!$A$2:$A$18</c:f>
              <c:multiLvlStrCache>
                <c:ptCount val="17"/>
                <c:lvl>
                  <c:pt idx="0">
                    <c:v>1</c:v>
                  </c:pt>
                  <c:pt idx="1">
                    <c:v>3</c:v>
                  </c:pt>
                  <c:pt idx="2">
                    <c:v>5</c:v>
                  </c:pt>
                  <c:pt idx="3">
                    <c:v>7</c:v>
                  </c:pt>
                  <c:pt idx="4">
                    <c:v>9</c:v>
                  </c:pt>
                  <c:pt idx="5">
                    <c:v>11</c:v>
                  </c:pt>
                  <c:pt idx="6">
                    <c:v>13</c:v>
                  </c:pt>
                  <c:pt idx="7">
                    <c:v>15</c:v>
                  </c:pt>
                  <c:pt idx="8">
                    <c:v>17</c:v>
                  </c:pt>
                  <c:pt idx="9">
                    <c:v>19</c:v>
                  </c:pt>
                  <c:pt idx="10">
                    <c:v>21</c:v>
                  </c:pt>
                  <c:pt idx="11">
                    <c:v>23</c:v>
                  </c:pt>
                  <c:pt idx="12">
                    <c:v>25</c:v>
                  </c:pt>
                  <c:pt idx="13">
                    <c:v>27</c:v>
                  </c:pt>
                  <c:pt idx="14">
                    <c:v>28</c:v>
                  </c:pt>
                  <c:pt idx="15">
                    <c:v>29</c:v>
                  </c:pt>
                  <c:pt idx="16">
                    <c:v>30</c:v>
                  </c:pt>
                </c:lvl>
              </c:multiLvlStrCache>
            </c:multiLvl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0.87</c:v>
                </c:pt>
                <c:pt idx="1">
                  <c:v>0.91</c:v>
                </c:pt>
                <c:pt idx="2">
                  <c:v>0.93</c:v>
                </c:pt>
                <c:pt idx="3">
                  <c:v>0.94</c:v>
                </c:pt>
                <c:pt idx="4">
                  <c:v>0.945</c:v>
                </c:pt>
                <c:pt idx="5">
                  <c:v>0.948</c:v>
                </c:pt>
                <c:pt idx="6">
                  <c:v>0.952</c:v>
                </c:pt>
                <c:pt idx="7">
                  <c:v>0.956</c:v>
                </c:pt>
                <c:pt idx="8">
                  <c:v>0.959</c:v>
                </c:pt>
                <c:pt idx="9">
                  <c:v>0.962</c:v>
                </c:pt>
                <c:pt idx="10">
                  <c:v>0.964</c:v>
                </c:pt>
                <c:pt idx="11">
                  <c:v>0.966</c:v>
                </c:pt>
                <c:pt idx="12">
                  <c:v>0.968</c:v>
                </c:pt>
                <c:pt idx="13">
                  <c:v>0.97</c:v>
                </c:pt>
                <c:pt idx="14">
                  <c:v>0.972</c:v>
                </c:pt>
                <c:pt idx="15">
                  <c:v>0.972</c:v>
                </c:pt>
                <c:pt idx="16">
                  <c:v>0.972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 Accuracy</c:v>
                </c:pt>
              </c:strCache>
            </c:strRef>
          </c:tx>
          <c:spPr>
            <a:solidFill>
              <a:srgbClr val="E67E22"/>
            </a:solidFill>
            <a:ln w="25400" cap="flat">
              <a:solidFill>
                <a:srgbClr val="E67E2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67E22"/>
              </a:solidFill>
              <a:ln w="9525" cap="flat">
                <a:solidFill>
                  <a:srgbClr val="E67E2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Sheet1!$A$2:$A$18</c:f>
              <c:multiLvlStrCache>
                <c:ptCount val="17"/>
                <c:lvl>
                  <c:pt idx="0">
                    <c:v>1</c:v>
                  </c:pt>
                  <c:pt idx="1">
                    <c:v>3</c:v>
                  </c:pt>
                  <c:pt idx="2">
                    <c:v>5</c:v>
                  </c:pt>
                  <c:pt idx="3">
                    <c:v>7</c:v>
                  </c:pt>
                  <c:pt idx="4">
                    <c:v>9</c:v>
                  </c:pt>
                  <c:pt idx="5">
                    <c:v>11</c:v>
                  </c:pt>
                  <c:pt idx="6">
                    <c:v>13</c:v>
                  </c:pt>
                  <c:pt idx="7">
                    <c:v>15</c:v>
                  </c:pt>
                  <c:pt idx="8">
                    <c:v>17</c:v>
                  </c:pt>
                  <c:pt idx="9">
                    <c:v>19</c:v>
                  </c:pt>
                  <c:pt idx="10">
                    <c:v>21</c:v>
                  </c:pt>
                  <c:pt idx="11">
                    <c:v>23</c:v>
                  </c:pt>
                  <c:pt idx="12">
                    <c:v>25</c:v>
                  </c:pt>
                  <c:pt idx="13">
                    <c:v>27</c:v>
                  </c:pt>
                  <c:pt idx="14">
                    <c:v>28</c:v>
                  </c:pt>
                  <c:pt idx="15">
                    <c:v>29</c:v>
                  </c:pt>
                  <c:pt idx="16">
                    <c:v>30</c:v>
                  </c:pt>
                </c:lvl>
              </c:multiLvlStrCache>
            </c:multiLvlStrRef>
          </c:cat>
          <c:val>
            <c:numRef>
              <c:f>Sheet1!$C$2:$C$18</c:f>
              <c:numCache>
                <c:formatCode>General</c:formatCode>
                <c:ptCount val="17"/>
                <c:pt idx="0">
                  <c:v>0.88</c:v>
                </c:pt>
                <c:pt idx="1">
                  <c:v>0.91</c:v>
                </c:pt>
                <c:pt idx="2">
                  <c:v>0.925</c:v>
                </c:pt>
                <c:pt idx="3">
                  <c:v>0.935</c:v>
                </c:pt>
                <c:pt idx="4">
                  <c:v>0.942</c:v>
                </c:pt>
                <c:pt idx="5">
                  <c:v>0.948</c:v>
                </c:pt>
                <c:pt idx="6">
                  <c:v>0.951</c:v>
                </c:pt>
                <c:pt idx="7">
                  <c:v>0.954</c:v>
                </c:pt>
                <c:pt idx="8">
                  <c:v>0.957</c:v>
                </c:pt>
                <c:pt idx="9">
                  <c:v>0.96</c:v>
                </c:pt>
                <c:pt idx="10">
                  <c:v>0.963</c:v>
                </c:pt>
                <c:pt idx="11">
                  <c:v>0.965</c:v>
                </c:pt>
                <c:pt idx="12">
                  <c:v>0.968</c:v>
                </c:pt>
                <c:pt idx="13">
                  <c:v>0.97</c:v>
                </c:pt>
                <c:pt idx="14">
                  <c:v>0.971</c:v>
                </c:pt>
                <c:pt idx="15">
                  <c:v>0.972</c:v>
                </c:pt>
                <c:pt idx="16">
                  <c:v>0.972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AFCFD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86200" y="502920"/>
            <a:ext cx="1371600" cy="1371600"/>
          </a:xfrm>
          <a:prstGeom prst="ellipse">
            <a:avLst/>
          </a:prstGeom>
          <a:solidFill>
            <a:srgbClr val="1C7293">
              <a:alpha val="70000"/>
            </a:srgbClr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86200" y="548640"/>
            <a:ext cx="1371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🔬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Malaria Detection System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Convolutional Neural Networks &amp; Transfer Learning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00400" y="3383280"/>
            <a:ext cx="274320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520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 ·  Streamlit  ·  TensorFlow  ·  NIH Dataset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Computer Science Project  |  2025–26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560320" cy="1371600"/>
          </a:xfrm>
          <a:prstGeom prst="rect">
            <a:avLst/>
          </a:prstGeom>
          <a:solidFill>
            <a:srgbClr val="0A2342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23444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247M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65760" y="192024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Malaria cases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worldwide (2021)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1188720"/>
            <a:ext cx="2560320" cy="1371600"/>
          </a:xfrm>
          <a:prstGeom prst="rect">
            <a:avLst/>
          </a:prstGeom>
          <a:solidFill>
            <a:srgbClr val="0A2342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0" y="123444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619K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200400" y="192024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Deaths per year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(WHO Report)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35040" y="1188720"/>
            <a:ext cx="2560320" cy="1371600"/>
          </a:xfrm>
          <a:prstGeom prst="rect">
            <a:avLst/>
          </a:prstGeom>
          <a:solidFill>
            <a:srgbClr val="0A2342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0" y="123444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035040" y="192024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in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Sub-Saharan Africa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788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3246120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21868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microscopic examination is slow, labour-intensive and error-prone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666744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639312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Skilled laboratory technicians are scarce in high-burden, low-resource regions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4087368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4059936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diagnosis leads to disease progression and preventable deaths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507992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48056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automation can enable rapid, accurate, low-cost screening at scale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4114800" cy="1600200"/>
          </a:xfrm>
          <a:prstGeom prst="rect">
            <a:avLst/>
          </a:prstGeom>
          <a:solidFill>
            <a:srgbClr val="E8F4F8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88720"/>
            <a:ext cx="502920" cy="16002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691640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128016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CNN Classifier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1645920"/>
            <a:ext cx="3429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train a deep learning model using MobileNetV2 transfer learning to classify blood cell images as Parasitized or Uninfected.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4114800" cy="1600200"/>
          </a:xfrm>
          <a:prstGeom prst="rect">
            <a:avLst/>
          </a:prstGeom>
          <a:solidFill>
            <a:srgbClr val="E8F4F8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188720"/>
            <a:ext cx="502920" cy="16002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691640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349240" y="128016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 High Accuracy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49240" y="1645920"/>
            <a:ext cx="3429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96–98% test accuracy using the NIH Malaria Cell Images dataset (~27,500 images) with two-phase training and fine-tuning.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017520"/>
            <a:ext cx="4114800" cy="1600200"/>
          </a:xfrm>
          <a:prstGeom prst="rect">
            <a:avLst/>
          </a:prstGeom>
          <a:solidFill>
            <a:srgbClr val="E8F4F8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017520"/>
            <a:ext cx="502920" cy="16002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3520440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68680" y="310896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 Web Application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3474720"/>
            <a:ext cx="3429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interactive Streamlit frontend allowing users to upload blood cell images and receive instant predictions with confidence scores.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3017520"/>
            <a:ext cx="4114800" cy="1600200"/>
          </a:xfrm>
          <a:prstGeom prst="rect">
            <a:avLst/>
          </a:prstGeom>
          <a:solidFill>
            <a:srgbClr val="E8F4F8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3017520"/>
            <a:ext cx="502920" cy="16002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3520440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349240" y="310896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 Medical Screening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49240" y="3474720"/>
            <a:ext cx="3429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 low-cost, accessible AI tool to support malaria diagnosis in resource-limited healthcare settings.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280160"/>
            <a:ext cx="1463040" cy="1645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37160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Image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901952"/>
            <a:ext cx="100584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201168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cell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 / JPG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810512" y="2011680"/>
            <a:ext cx="201168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56232" y="194767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</a:rPr>
              <a:t>▶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039112" y="1280160"/>
            <a:ext cx="1463040" cy="1645920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039112" y="137160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267712" y="1901952"/>
            <a:ext cx="100584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39112" y="201168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96×96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529584" y="2011680"/>
            <a:ext cx="201168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75304" y="194767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</a:rPr>
              <a:t>▶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758184" y="1280160"/>
            <a:ext cx="1463040" cy="16459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758184" y="137160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986784" y="1901952"/>
            <a:ext cx="100584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58184" y="201168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248656" y="2011680"/>
            <a:ext cx="201168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94376" y="194767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</a:rPr>
              <a:t>▶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77256" y="1280160"/>
            <a:ext cx="1463040" cy="1645920"/>
          </a:xfrm>
          <a:prstGeom prst="rect">
            <a:avLst/>
          </a:prstGeom>
          <a:solidFill>
            <a:srgbClr val="14436A"/>
          </a:solidFill>
          <a:ln w="12700">
            <a:solidFill>
              <a:srgbClr val="1443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477256" y="137160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Head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705856" y="1901952"/>
            <a:ext cx="100584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77256" y="201168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256→128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→Sigmoid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967728" y="2011680"/>
            <a:ext cx="201168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13448" y="194767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</a:rPr>
              <a:t>▶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196328" y="1280160"/>
            <a:ext cx="1463040" cy="1645920"/>
          </a:xfrm>
          <a:prstGeom prst="rect">
            <a:avLst/>
          </a:prstGeom>
          <a:solidFill>
            <a:srgbClr val="0F6B52"/>
          </a:solidFill>
          <a:ln w="12700">
            <a:solidFill>
              <a:srgbClr val="0F6B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196328" y="137160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424928" y="1901952"/>
            <a:ext cx="100584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96328" y="201168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Parasitized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Uninfected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3154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Two-Phase Training Strategy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274320" y="3566160"/>
            <a:ext cx="4114800" cy="1325880"/>
          </a:xfrm>
          <a:prstGeom prst="rect">
            <a:avLst/>
          </a:prstGeom>
          <a:solidFill>
            <a:srgbClr val="E8F4F8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11480" y="363931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Head Training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11480" y="4005072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MobileNetV2 base. Train only the Dense classification head with lr=1e-4 for up to 20 epochs.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754880" y="3566160"/>
            <a:ext cx="4114800" cy="1325880"/>
          </a:xfrm>
          <a:prstGeom prst="rect">
            <a:avLst/>
          </a:prstGeom>
          <a:solidFill>
            <a:srgbClr val="E8F4F8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892040" y="363931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Fine-Tuning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892040" y="4005072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Unfreeze top 40 layers of MobileNetV2. Re-train with lr=1e-5 for 10 additional epochs to boost accuracy.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1920240" cy="1645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20700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15087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NIH / Kaggle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21031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Institutes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8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Health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23160" y="1143000"/>
            <a:ext cx="1920240" cy="16459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23160" y="120700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Images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423160" y="15087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27,558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23160" y="21031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cell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8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microscopy images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0" y="1143000"/>
            <a:ext cx="1920240" cy="1645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0" y="120700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Parasitized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0" y="15087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13,779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572000" y="21031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Infected cell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8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(.png)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720840" y="1143000"/>
            <a:ext cx="1920240" cy="16459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20840" y="120700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Uninfected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720840" y="15087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13,779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720840" y="21031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cell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8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(.png)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2971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Validation / Test Split</a:t>
            </a:r>
            <a:endParaRPr lang="en-US" sz="15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274320" y="3383280"/>
          <a:ext cx="5486400" cy="1600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5943600" y="333756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Augmentation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943600" y="3749040"/>
            <a:ext cx="146304" cy="14630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172200" y="372160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 ±20°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943600" y="4005072"/>
            <a:ext cx="146304" cy="14630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172200" y="397764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&amp; vertical flip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5943600" y="4261104"/>
            <a:ext cx="146304" cy="14630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172200" y="423367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 ±15%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5943600" y="4517136"/>
            <a:ext cx="146304" cy="14630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172200" y="4489704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Brightness shift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5943600" y="4773168"/>
            <a:ext cx="146304" cy="14630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172200" y="4745736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Width/height shift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 — MobileNetV2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412480" cy="5303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188720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Layer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0" y="1234440"/>
            <a:ext cx="27432" cy="3474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51960" y="1188720"/>
            <a:ext cx="4389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 × 96 × 3  RGB image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783080"/>
            <a:ext cx="8412480" cy="530352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1828800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Base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0" y="1874520"/>
            <a:ext cx="27432" cy="3474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51960" y="1828800"/>
            <a:ext cx="4389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 on ImageNet  ·  1.4M images  ·  Frozen in Phase 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423160"/>
            <a:ext cx="8412480" cy="53035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2468880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GlobalAveragePooling2D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0" y="2514600"/>
            <a:ext cx="27432" cy="3474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51960" y="2468880"/>
            <a:ext cx="4389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spatial dimensions → 1280-dim vector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063240"/>
            <a:ext cx="8412480" cy="530352"/>
          </a:xfrm>
          <a:prstGeom prst="rect">
            <a:avLst/>
          </a:prstGeom>
          <a:solidFill>
            <a:srgbClr val="1F618D"/>
          </a:solidFill>
          <a:ln w="12700">
            <a:solidFill>
              <a:srgbClr val="1F618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8640" y="3108960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(256) + BN + Dropout 0.4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114800" y="3154680"/>
            <a:ext cx="27432" cy="3474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51960" y="3108960"/>
            <a:ext cx="4389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 activation  ·  Batch Normalisation  ·  Regularisation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703320"/>
            <a:ext cx="8412480" cy="530352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8640" y="3749040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(128) + BN + Dropout 0.3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114800" y="3794760"/>
            <a:ext cx="27432" cy="3474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51960" y="3749040"/>
            <a:ext cx="4389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 activation  ·  Further feature compression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4343400"/>
            <a:ext cx="8412480" cy="530352"/>
          </a:xfrm>
          <a:prstGeom prst="rect">
            <a:avLst/>
          </a:prstGeom>
          <a:solidFill>
            <a:srgbClr val="0F6B52"/>
          </a:solidFill>
          <a:ln w="12700">
            <a:solidFill>
              <a:srgbClr val="0F6B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48640" y="4389120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(1) — Sigmoid Output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114800" y="4434840"/>
            <a:ext cx="27432" cy="3474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51960" y="4389120"/>
            <a:ext cx="4389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score  ·  Threshold 0.5  →  Parasitized / Uninfected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Process &amp; Configuration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97280"/>
          <a:ext cx="85953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560320"/>
                <a:gridCol w="3474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2 (Fine-tune)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 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1e-4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1e-5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Size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Epochs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Early Stopping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Patience = 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Patience = 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LR Scheduler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ReduceLROnPlateau (factor 0.5)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ReduceLROnPlateau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Trainable Layers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Dense head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40 layers unfrozen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274320" y="4206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Callbacks Used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274320" y="4572000"/>
            <a:ext cx="256032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274320" y="457200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EarlyStopping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154680" y="4572000"/>
            <a:ext cx="256032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154680" y="457200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ModelCheckpoint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035040" y="4572000"/>
            <a:ext cx="256032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035040" y="457200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ReduceLROnPlateau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Model Performance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1920240" cy="1371600"/>
          </a:xfrm>
          <a:prstGeom prst="rect">
            <a:avLst/>
          </a:prstGeom>
          <a:solidFill>
            <a:srgbClr val="0F6B52"/>
          </a:solidFill>
          <a:ln w="12700">
            <a:solidFill>
              <a:srgbClr val="0F6B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23444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97.2%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19202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23160" y="1143000"/>
            <a:ext cx="1920240" cy="13716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23160" y="123444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97.5%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423160" y="19202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8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(Recall)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1143000"/>
            <a:ext cx="1920240" cy="13716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123444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96.9%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572000" y="19202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Specificity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20840" y="1143000"/>
            <a:ext cx="1920240" cy="137160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20840" y="123444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0.031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720840" y="19202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Loss</a:t>
            </a:r>
            <a:endParaRPr lang="en-US" sz="11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274320" y="2697480"/>
          <a:ext cx="5486400" cy="2240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Text 14"/>
          <p:cNvSpPr/>
          <p:nvPr/>
        </p:nvSpPr>
        <p:spPr>
          <a:xfrm>
            <a:off x="5943600" y="269748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Comparison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943600" y="3108960"/>
            <a:ext cx="2926080" cy="384048"/>
          </a:xfrm>
          <a:prstGeom prst="rect">
            <a:avLst/>
          </a:prstGeom>
          <a:solidFill>
            <a:srgbClr val="E8F4F8"/>
          </a:solidFill>
          <a:ln w="12700">
            <a:solidFill>
              <a:srgbClr val="D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080760" y="310896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CNN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818120" y="310896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93–95%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943600" y="3566160"/>
            <a:ext cx="2926080" cy="38404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6080760" y="356616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(ours)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7818120" y="356616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97.2%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5943600" y="4023360"/>
            <a:ext cx="2926080" cy="384048"/>
          </a:xfrm>
          <a:prstGeom prst="rect">
            <a:avLst/>
          </a:prstGeom>
          <a:solidFill>
            <a:srgbClr val="E8F4F8"/>
          </a:solidFill>
          <a:ln w="12700">
            <a:solidFill>
              <a:srgbClr val="D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6080760" y="402336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VGG16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7818120" y="402336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95–96%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5943600" y="4480560"/>
            <a:ext cx="2926080" cy="384048"/>
          </a:xfrm>
          <a:prstGeom prst="rect">
            <a:avLst/>
          </a:prstGeom>
          <a:solidFill>
            <a:srgbClr val="E8F4F8"/>
          </a:solidFill>
          <a:ln w="12700">
            <a:solidFill>
              <a:srgbClr val="D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6080760" y="448056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ResNet50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7818120" y="448056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96–97%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Web Application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5669280" cy="3840480"/>
          </a:xfrm>
          <a:prstGeom prst="rect">
            <a:avLst/>
          </a:prstGeom>
          <a:solidFill>
            <a:srgbClr val="F0F2F6"/>
          </a:solidFill>
          <a:ln w="12700">
            <a:solidFill>
              <a:srgbClr val="D0D4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5669280" cy="320040"/>
          </a:xfrm>
          <a:prstGeom prst="rect">
            <a:avLst/>
          </a:prstGeom>
          <a:solidFill>
            <a:srgbClr val="E0E4EC"/>
          </a:solidFill>
          <a:ln w="12700">
            <a:solidFill>
              <a:srgbClr val="D0D4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161288"/>
            <a:ext cx="128016" cy="128016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161288"/>
            <a:ext cx="128016" cy="128016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161288"/>
            <a:ext cx="128016" cy="128016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1161288"/>
            <a:ext cx="365760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16128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localhost:8501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200" y="1481328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Malaria Cell Detection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2920" y="1920240"/>
            <a:ext cx="52120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920240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📎  Drag and drop or Browse files  (PNG, JPG, JPEG)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2834640"/>
            <a:ext cx="23774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83464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Cell image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017520" y="2834640"/>
            <a:ext cx="2651760" cy="1097280"/>
          </a:xfrm>
          <a:prstGeom prst="rect">
            <a:avLst/>
          </a:prstGeom>
          <a:solidFill>
            <a:srgbClr val="FFF5F5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17520" y="29260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</a:rPr>
              <a:t>🦠  Parasitized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017520" y="33375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Confidence: 97.4%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26480" y="114300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126480" y="1581912"/>
            <a:ext cx="146304" cy="14630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15544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any PNG / JPG image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26480" y="1984248"/>
            <a:ext cx="146304" cy="14630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55080" y="195681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CNN prediction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2386584"/>
            <a:ext cx="146304" cy="14630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55080" y="235915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 display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26480" y="2788920"/>
            <a:ext cx="146304" cy="14630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55080" y="276148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breakdown bar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26480" y="3191256"/>
            <a:ext cx="146304" cy="14630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55080" y="316382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level badge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26480" y="3593592"/>
            <a:ext cx="146304" cy="14630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55080" y="356616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panel in sidebar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126480" y="3995928"/>
            <a:ext cx="146304" cy="14630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55080" y="396849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locally on port 8501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26480" y="4398264"/>
            <a:ext cx="146304" cy="14630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55080" y="437083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cache for speed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530352"/>
          </a:xfrm>
          <a:prstGeom prst="rect">
            <a:avLst/>
          </a:prstGeom>
          <a:solidFill>
            <a:srgbClr val="112244">
              <a:alpha val="8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1005840"/>
            <a:ext cx="7589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 97.2% test accuracy using MobileNetV2 transfer learning on 27,558 cell images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627632"/>
            <a:ext cx="8412480" cy="530352"/>
          </a:xfrm>
          <a:prstGeom prst="rect">
            <a:avLst/>
          </a:prstGeom>
          <a:solidFill>
            <a:srgbClr val="112244">
              <a:alpha val="8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27632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1627632"/>
            <a:ext cx="7589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Two-phase training (head training + fine-tuning) significantly improved performance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249424"/>
            <a:ext cx="8412480" cy="530352"/>
          </a:xfrm>
          <a:prstGeom prst="rect">
            <a:avLst/>
          </a:prstGeom>
          <a:solidFill>
            <a:srgbClr val="112244">
              <a:alpha val="8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249424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2249424"/>
            <a:ext cx="7589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an interactive Streamlit web app for real-time malaria cell classification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871216"/>
            <a:ext cx="8412480" cy="530352"/>
          </a:xfrm>
          <a:prstGeom prst="rect">
            <a:avLst/>
          </a:prstGeom>
          <a:solidFill>
            <a:srgbClr val="112244">
              <a:alpha val="8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871216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2871216"/>
            <a:ext cx="7589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outperforms traditional custom CNNs while requiring less training time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36118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4005072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Multi-class classification for parasite species identification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4005072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Mobile app deployment for field use in remote areas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443984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Grad-CAM visualisation to highlight infected regions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4443984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Integration with microscope hardware for live detection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Malaria Detection Using CNN</dc:title>
  <dc:subject>PptxGenJS Presentation</dc:subject>
  <dc:creator>Harnoor Kaur</dc:creator>
  <cp:lastModifiedBy>Harnoor Kaur</cp:lastModifiedBy>
  <cp:revision>1</cp:revision>
  <dcterms:created xsi:type="dcterms:W3CDTF">2026-06-06T20:23:10Z</dcterms:created>
  <dcterms:modified xsi:type="dcterms:W3CDTF">2026-06-06T20:23:10Z</dcterms:modified>
</cp:coreProperties>
</file>